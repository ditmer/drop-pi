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ctr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1900" u="none" kumimoji="0" normalizeH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 b="def" i="def"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lack and white aerial photo of a person standing on top of a dam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4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2" name="Black and white photo of windmills under a cloudy sky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6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92" name="Black and white photo of windmills under a cloudy sky"/>
          <p:cNvSpPr/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4" name="Body Level One…"/>
          <p:cNvSpPr txBox="1"/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0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lack and white photo of a solar panel"/>
          <p:cNvSpPr/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2" name="Black and white photo of water flowing over the spillway gates of a dam"/>
          <p:cNvSpPr/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Black and white photo of windmills under a cloudy sky"/>
          <p:cNvSpPr/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allout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122" name="Type a quote here."/>
          <p:cNvSpPr txBox="1"/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23" name="Johnny Appleseed"/>
          <p:cNvSpPr txBox="1"/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24" name="Text"/>
          <p:cNvSpPr txBox="1"/>
          <p:nvPr>
            <p:ph type="body" sz="quarter" idx="2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Al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ype a quote here."/>
          <p:cNvSpPr txBox="1"/>
          <p:nvPr>
            <p:ph type="body" sz="quarter" idx="2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33" name="Black and white photo of windmills under a cloudy sky"/>
          <p:cNvSpPr/>
          <p:nvPr>
            <p:ph type="pic" idx="22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4" name="Johnny Appleseed"/>
          <p:cNvSpPr txBox="1"/>
          <p:nvPr>
            <p:ph type="body" sz="quarter" idx="2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Black and white aerial photo of a person standing on top of a dam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solidFill>
                  <a:srgbClr val="838787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itmer/Drop-Pi" TargetMode="External"/><Relationship Id="rId3" Type="http://schemas.openxmlformats.org/officeDocument/2006/relationships/hyperlink" Target="https://github.com/ditmer/cryptmypi-drop-pi" TargetMode="External"/><Relationship Id="rId4" Type="http://schemas.openxmlformats.org/officeDocument/2006/relationships/hyperlink" Target="https://github.com/ab0l3th" TargetMode="External"/><Relationship Id="rId5" Type="http://schemas.openxmlformats.org/officeDocument/2006/relationships/hyperlink" Target="https://github.com/ditmer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802.1x Bypass Drop-Pi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643889">
              <a:defRPr sz="23634"/>
            </a:lvl1pPr>
          </a:lstStyle>
          <a:p>
            <a:pPr/>
            <a:r>
              <a:t>802.1x Bypass Drop-Pi</a:t>
            </a:r>
          </a:p>
        </p:txBody>
      </p:sp>
      <p:sp>
        <p:nvSpPr>
          <p:cNvPr id="167" name="Rob Ditmer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17244">
              <a:spcBef>
                <a:spcPts val="3100"/>
              </a:spcBef>
              <a:defRPr sz="7623"/>
            </a:pPr>
            <a:r>
              <a:t>Rob Ditmer</a:t>
            </a:r>
          </a:p>
          <a:p>
            <a:pPr defTabSz="817244">
              <a:spcBef>
                <a:spcPts val="3100"/>
              </a:spcBef>
              <a:defRPr sz="7623"/>
            </a:pPr>
            <a:r>
              <a:t>Doug Kent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About Us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About Us</a:t>
            </a:r>
          </a:p>
        </p:txBody>
      </p:sp>
      <p:sp>
        <p:nvSpPr>
          <p:cNvPr id="170" name="Rob Ditm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Rob Ditmer</a:t>
            </a:r>
          </a:p>
        </p:txBody>
      </p:sp>
      <p:sp>
        <p:nvSpPr>
          <p:cNvPr id="171" name="Red Team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 Team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About Us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About Us</a:t>
            </a:r>
          </a:p>
        </p:txBody>
      </p:sp>
      <p:sp>
        <p:nvSpPr>
          <p:cNvPr id="174" name="Doug K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Doug Kent</a:t>
            </a:r>
          </a:p>
        </p:txBody>
      </p:sp>
      <p:sp>
        <p:nvSpPr>
          <p:cNvPr id="175" name="No one car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 one cares</a:t>
            </a:r>
          </a:p>
          <a:p>
            <a:pPr/>
            <a:r>
              <a:t>Security Engineer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What are we Talking About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are we Talking About</a:t>
            </a:r>
          </a:p>
        </p:txBody>
      </p:sp>
      <p:sp>
        <p:nvSpPr>
          <p:cNvPr id="178" name="Drop-P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Drop-Pi</a:t>
            </a:r>
          </a:p>
        </p:txBody>
      </p:sp>
      <p:sp>
        <p:nvSpPr>
          <p:cNvPr id="179" name="The Drop-Pi is a suite of software developed on a Raspberry Pi to facilitate the automatic bypassing of 802.1x/NAC implementations (pre 802.1x-2010 standards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46100" indent="-546100" defTabSz="709930">
              <a:spcBef>
                <a:spcPts val="3300"/>
              </a:spcBef>
              <a:defRPr sz="4128"/>
            </a:pPr>
            <a:r>
              <a:t>The Drop-Pi is a suite of software developed on a Raspberry Pi to facilitate the automatic bypassing of 802.1x/NAC implementations (pre 802.1x-2010 standards).</a:t>
            </a:r>
          </a:p>
          <a:p>
            <a:pPr marL="546100" indent="-546100" defTabSz="709930">
              <a:spcBef>
                <a:spcPts val="3300"/>
              </a:spcBef>
              <a:defRPr sz="4128"/>
            </a:pPr>
            <a:r>
              <a:t>Establish discrete remote access into target networks. Designed with physical penetration testing in mind, the Drop-Pi can establish remote access inside a target network within a matter of seconds after being plugged in.</a:t>
            </a:r>
          </a:p>
          <a:p>
            <a:pPr marL="546100" indent="-546100" defTabSz="709930">
              <a:spcBef>
                <a:spcPts val="3300"/>
              </a:spcBef>
              <a:defRPr sz="4128"/>
            </a:pPr>
            <a:r>
              <a:t>Built with common and easily sourced hardware which allows for easy and quick provisioning of multiple Drop-Pi devices. </a:t>
            </a:r>
          </a:p>
          <a:p>
            <a:pPr marL="546100" indent="-546100" defTabSz="709930">
              <a:spcBef>
                <a:spcPts val="3300"/>
              </a:spcBef>
              <a:defRPr sz="4128"/>
            </a:pPr>
            <a:r>
              <a:t>When it's not feasible to utilize a target network for egress traffic, the Drop-Pi can easily be configured to employ a wireless connection or mobile hotspot to facilitate access in and out of the network.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What are we talking about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are we talking about</a:t>
            </a:r>
          </a:p>
        </p:txBody>
      </p:sp>
      <p:sp>
        <p:nvSpPr>
          <p:cNvPr id="182" name="Drop-Pi : Our Demolab Focu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Drop-Pi : Our Demolab Focus </a:t>
            </a:r>
          </a:p>
        </p:txBody>
      </p:sp>
      <p:sp>
        <p:nvSpPr>
          <p:cNvPr id="183" name="This DemoLab will only focus on the 802.1x NAC bypass capabilities of the Drop-P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DemoLab will only focus on the 802.1x NAC bypass capabilities of the Drop-Pi</a:t>
            </a:r>
          </a:p>
          <a:p>
            <a:pPr/>
            <a:r>
              <a:t>Give an overview of the code used to bypass 802.1x NAC</a:t>
            </a:r>
          </a:p>
          <a:p>
            <a:pPr/>
            <a:r>
              <a:t>Live demo of the Drop-Pi in use</a:t>
            </a:r>
          </a:p>
          <a:p>
            <a:pPr/>
            <a:r>
              <a:t>Doug will be handing out candy, most likely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What is this thing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this thing</a:t>
            </a:r>
          </a:p>
        </p:txBody>
      </p:sp>
      <p:sp>
        <p:nvSpPr>
          <p:cNvPr id="186" name="Lets Have a Talk - 802.1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Lets Have a Talk - 802.1x</a:t>
            </a:r>
          </a:p>
        </p:txBody>
      </p:sp>
      <p:sp>
        <p:nvSpPr>
          <p:cNvPr id="187" name="802.1X is a network authentication protocol that opens ports for network access when an organization authenticates a user's identity and authorizes them for access to the network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802.1X is a network authentication protocol that opens ports for network access when an organization authenticates a user's identity and authorizes them for access to the network. </a:t>
            </a:r>
          </a:p>
          <a:p>
            <a:pPr/>
            <a:r>
              <a:t>The user's identity is determined based on their credentials or certificate, which is confirmed by the RADIUS server. </a:t>
            </a:r>
          </a:p>
          <a:p>
            <a:pPr/>
            <a:r>
              <a:t>The RADIUS server is able to do this by communicating with the organization's directory, for example over the LDAP or SAML protocol.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What is this thing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this thing</a:t>
            </a:r>
          </a:p>
        </p:txBody>
      </p:sp>
      <p:sp>
        <p:nvSpPr>
          <p:cNvPr id="190" name="Lets Have a Talk - More than just 802.1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Lets Have a Talk - More than just 802.1x</a:t>
            </a:r>
          </a:p>
        </p:txBody>
      </p:sp>
      <p:sp>
        <p:nvSpPr>
          <p:cNvPr id="191" name="NAC solutions use more than just the 802.1x protocol to authenticate clien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NAC solutions use more than just the 802.1x protocol to authenticate clients</a:t>
            </a:r>
          </a:p>
          <a:p>
            <a:pPr/>
            <a:r>
              <a:t>Endpoint applications which scan clients and compare against approved baselines before allowing network access</a:t>
            </a:r>
          </a:p>
          <a:p>
            <a:pPr/>
            <a:r>
              <a:t>Will still use 802.1x to authenticate</a:t>
            </a:r>
          </a:p>
          <a:p>
            <a:pPr/>
            <a:r>
              <a:t>Poor man’s NAC - port security (Is it really NAC?)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What is this Thing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this Thing</a:t>
            </a:r>
          </a:p>
        </p:txBody>
      </p:sp>
      <p:sp>
        <p:nvSpPr>
          <p:cNvPr id="194" name="Limit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Limitations</a:t>
            </a:r>
          </a:p>
        </p:txBody>
      </p:sp>
      <p:sp>
        <p:nvSpPr>
          <p:cNvPr id="195" name="The Drop-Pi can get past everything discussed so far, except when the underlying connection utilize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Drop-Pi can get past everything discussed so far, except when the underlying connection utilizes:</a:t>
            </a:r>
          </a:p>
          <a:p>
            <a:pPr lvl="1"/>
            <a:r>
              <a:t>Media Access Control Security (MACsec) - Used in 802.1x-2010 and newer standards.</a:t>
            </a:r>
          </a:p>
          <a:p>
            <a:pPr lvl="1"/>
            <a:r>
              <a:t>IPSec from the client to the switch or other controller.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What is this Thing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this Thing</a:t>
            </a:r>
          </a:p>
        </p:txBody>
      </p:sp>
      <p:sp>
        <p:nvSpPr>
          <p:cNvPr id="198" name="Why These Limit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Why These Limitations</a:t>
            </a:r>
          </a:p>
        </p:txBody>
      </p:sp>
      <p:sp>
        <p:nvSpPr>
          <p:cNvPr id="199" name="The Drop-Pi constructs a transparent bridge between the client and the switch, assuming the identity of the client. This allows the Drop-Pi to inject its own traffic over the bridge and gain access to the secured network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Drop-Pi constructs a transparent bridge between the client and the switch, assuming the identity of the client. This allows the Drop-Pi to inject its own traffic over the bridge and gain access to the secured network.</a:t>
            </a:r>
          </a:p>
          <a:p>
            <a:pPr/>
            <a:r>
              <a:t>Encrypting and placing integrity checking on the connection between the client and the switch prevents the Drop-Pi from creating that transparent bridge and injecting traffic.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ets Get Into It - Finally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Lets Get Into It - Finally</a:t>
            </a:r>
          </a:p>
        </p:txBody>
      </p:sp>
      <p:sp>
        <p:nvSpPr>
          <p:cNvPr id="202" name="Drop-Pi work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Drop-Pi workflow</a:t>
            </a:r>
          </a:p>
        </p:txBody>
      </p:sp>
      <p:sp>
        <p:nvSpPr>
          <p:cNvPr id="203" name="Cable is plugged into on-board NIC"/>
          <p:cNvSpPr/>
          <p:nvPr/>
        </p:nvSpPr>
        <p:spPr>
          <a:xfrm>
            <a:off x="1344203" y="4064000"/>
            <a:ext cx="2395239" cy="11976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Cable is plugged into on-board NIC</a:t>
            </a:r>
          </a:p>
        </p:txBody>
      </p:sp>
      <p:sp>
        <p:nvSpPr>
          <p:cNvPr id="204" name="Ifplugd catches link heartbeat. Calls script dispatcher"/>
          <p:cNvSpPr/>
          <p:nvPr/>
        </p:nvSpPr>
        <p:spPr>
          <a:xfrm>
            <a:off x="4539888" y="4027809"/>
            <a:ext cx="3348722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Ifplugd catches link heartbeat. Calls script dispatcher</a:t>
            </a:r>
          </a:p>
        </p:txBody>
      </p:sp>
      <p:sp>
        <p:nvSpPr>
          <p:cNvPr id="205" name="Line"/>
          <p:cNvSpPr/>
          <p:nvPr/>
        </p:nvSpPr>
        <p:spPr>
          <a:xfrm>
            <a:off x="3839536" y="4662809"/>
            <a:ext cx="600257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06" name="Dispatcher"/>
          <p:cNvSpPr/>
          <p:nvPr/>
        </p:nvSpPr>
        <p:spPr>
          <a:xfrm>
            <a:off x="8689056" y="4064000"/>
            <a:ext cx="2036123" cy="127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Dispatcher</a:t>
            </a:r>
          </a:p>
        </p:txBody>
      </p:sp>
      <p:sp>
        <p:nvSpPr>
          <p:cNvPr id="207" name="Line"/>
          <p:cNvSpPr/>
          <p:nvPr/>
        </p:nvSpPr>
        <p:spPr>
          <a:xfrm>
            <a:off x="7988704" y="4699000"/>
            <a:ext cx="600257" cy="0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08" name="If USB NIC is not present, act as normally device"/>
          <p:cNvSpPr/>
          <p:nvPr/>
        </p:nvSpPr>
        <p:spPr>
          <a:xfrm>
            <a:off x="8689056" y="6223000"/>
            <a:ext cx="2036123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If USB NIC is not present, act as normally device</a:t>
            </a:r>
          </a:p>
        </p:txBody>
      </p:sp>
      <p:sp>
        <p:nvSpPr>
          <p:cNvPr id="209" name="Line"/>
          <p:cNvSpPr/>
          <p:nvPr/>
        </p:nvSpPr>
        <p:spPr>
          <a:xfrm>
            <a:off x="9707117" y="5541353"/>
            <a:ext cx="1" cy="474294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0" name="Kick off remote access"/>
          <p:cNvSpPr/>
          <p:nvPr/>
        </p:nvSpPr>
        <p:spPr>
          <a:xfrm>
            <a:off x="5816657" y="6223000"/>
            <a:ext cx="2036124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Kick off remote access </a:t>
            </a:r>
          </a:p>
        </p:txBody>
      </p:sp>
      <p:sp>
        <p:nvSpPr>
          <p:cNvPr id="211" name="Line"/>
          <p:cNvSpPr/>
          <p:nvPr/>
        </p:nvSpPr>
        <p:spPr>
          <a:xfrm flipH="1">
            <a:off x="7970790" y="6858000"/>
            <a:ext cx="600257" cy="0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2" name="USB NIC Detected"/>
          <p:cNvSpPr/>
          <p:nvPr/>
        </p:nvSpPr>
        <p:spPr>
          <a:xfrm>
            <a:off x="11525625" y="4064000"/>
            <a:ext cx="2036124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USB NIC Detected</a:t>
            </a:r>
          </a:p>
        </p:txBody>
      </p:sp>
      <p:sp>
        <p:nvSpPr>
          <p:cNvPr id="213" name="Line"/>
          <p:cNvSpPr/>
          <p:nvPr/>
        </p:nvSpPr>
        <p:spPr>
          <a:xfrm>
            <a:off x="10825274" y="4699000"/>
            <a:ext cx="600256" cy="0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4" name="Run GoGoNacBypass()"/>
          <p:cNvSpPr/>
          <p:nvPr/>
        </p:nvSpPr>
        <p:spPr>
          <a:xfrm>
            <a:off x="11346068" y="6223000"/>
            <a:ext cx="2395239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Run GoGoNacBypass()</a:t>
            </a:r>
          </a:p>
        </p:txBody>
      </p:sp>
      <p:sp>
        <p:nvSpPr>
          <p:cNvPr id="215" name="Line"/>
          <p:cNvSpPr/>
          <p:nvPr/>
        </p:nvSpPr>
        <p:spPr>
          <a:xfrm>
            <a:off x="12543687" y="5541353"/>
            <a:ext cx="1" cy="474294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6" name="Rectangle"/>
          <p:cNvSpPr/>
          <p:nvPr/>
        </p:nvSpPr>
        <p:spPr>
          <a:xfrm>
            <a:off x="14757024" y="4543070"/>
            <a:ext cx="8505948" cy="7699730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7" name="Line"/>
          <p:cNvSpPr/>
          <p:nvPr/>
        </p:nvSpPr>
        <p:spPr>
          <a:xfrm>
            <a:off x="13942686" y="6858000"/>
            <a:ext cx="600257" cy="0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18" name="GoGoNacBypass()"/>
          <p:cNvSpPr txBox="1"/>
          <p:nvPr/>
        </p:nvSpPr>
        <p:spPr>
          <a:xfrm>
            <a:off x="14704246" y="4063999"/>
            <a:ext cx="23952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GoGoNacBypass()</a:t>
            </a:r>
          </a:p>
        </p:txBody>
      </p:sp>
      <p:sp>
        <p:nvSpPr>
          <p:cNvPr id="219" name="Rectangle"/>
          <p:cNvSpPr/>
          <p:nvPr/>
        </p:nvSpPr>
        <p:spPr>
          <a:xfrm>
            <a:off x="15122114" y="5397500"/>
            <a:ext cx="7775770" cy="4806068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0" name="EAPOLMagic() &amp; StealThyCreds()"/>
          <p:cNvSpPr txBox="1"/>
          <p:nvPr/>
        </p:nvSpPr>
        <p:spPr>
          <a:xfrm>
            <a:off x="15108969" y="4913077"/>
            <a:ext cx="3868684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EAPOLMagic() &amp; StealThyCreds()</a:t>
            </a:r>
          </a:p>
        </p:txBody>
      </p:sp>
      <p:sp>
        <p:nvSpPr>
          <p:cNvPr id="221" name="Bring NIC up on client side only"/>
          <p:cNvSpPr/>
          <p:nvPr/>
        </p:nvSpPr>
        <p:spPr>
          <a:xfrm>
            <a:off x="15319297" y="5627922"/>
            <a:ext cx="1784839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Bring NIC up on client side only</a:t>
            </a:r>
          </a:p>
        </p:txBody>
      </p:sp>
      <p:sp>
        <p:nvSpPr>
          <p:cNvPr id="222" name="Get very first packet from client machine"/>
          <p:cNvSpPr/>
          <p:nvPr/>
        </p:nvSpPr>
        <p:spPr>
          <a:xfrm>
            <a:off x="18117579" y="5627922"/>
            <a:ext cx="1784839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Get very first packet from client machine</a:t>
            </a:r>
          </a:p>
        </p:txBody>
      </p:sp>
      <p:sp>
        <p:nvSpPr>
          <p:cNvPr id="223" name="Determine if NAC is enabled"/>
          <p:cNvSpPr/>
          <p:nvPr/>
        </p:nvSpPr>
        <p:spPr>
          <a:xfrm>
            <a:off x="20915861" y="7757934"/>
            <a:ext cx="1784839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Determine if NAC is enabled</a:t>
            </a:r>
          </a:p>
        </p:txBody>
      </p:sp>
      <p:sp>
        <p:nvSpPr>
          <p:cNvPr id="224" name="Get MAC address of client"/>
          <p:cNvSpPr/>
          <p:nvPr/>
        </p:nvSpPr>
        <p:spPr>
          <a:xfrm>
            <a:off x="15319297" y="7757934"/>
            <a:ext cx="1784839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Get MAC address of client</a:t>
            </a:r>
          </a:p>
        </p:txBody>
      </p:sp>
      <p:sp>
        <p:nvSpPr>
          <p:cNvPr id="225" name="If EPOL packet, try running hostapd"/>
          <p:cNvSpPr/>
          <p:nvPr/>
        </p:nvSpPr>
        <p:spPr>
          <a:xfrm>
            <a:off x="18117579" y="7757934"/>
            <a:ext cx="1784839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If EPOL packet, try running hostapd</a:t>
            </a:r>
          </a:p>
        </p:txBody>
      </p:sp>
      <p:sp>
        <p:nvSpPr>
          <p:cNvPr id="226" name="Line"/>
          <p:cNvSpPr/>
          <p:nvPr/>
        </p:nvSpPr>
        <p:spPr>
          <a:xfrm>
            <a:off x="19009997" y="7090781"/>
            <a:ext cx="1" cy="474295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7" name="Line"/>
          <p:cNvSpPr/>
          <p:nvPr/>
        </p:nvSpPr>
        <p:spPr>
          <a:xfrm flipH="1">
            <a:off x="17234594" y="7097826"/>
            <a:ext cx="741959" cy="1349983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8" name="Line"/>
          <p:cNvSpPr/>
          <p:nvPr/>
        </p:nvSpPr>
        <p:spPr>
          <a:xfrm>
            <a:off x="20109011" y="8392934"/>
            <a:ext cx="600257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9" name="InitialSetupEBtable()"/>
          <p:cNvSpPr txBox="1"/>
          <p:nvPr/>
        </p:nvSpPr>
        <p:spPr>
          <a:xfrm>
            <a:off x="17075656" y="10909270"/>
            <a:ext cx="386868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InitialSetupEBtable()</a:t>
            </a:r>
          </a:p>
        </p:txBody>
      </p:sp>
      <p:sp>
        <p:nvSpPr>
          <p:cNvPr id="230" name="Line"/>
          <p:cNvSpPr/>
          <p:nvPr/>
        </p:nvSpPr>
        <p:spPr>
          <a:xfrm>
            <a:off x="19009998" y="9887948"/>
            <a:ext cx="1" cy="911969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31" name="Line"/>
          <p:cNvSpPr/>
          <p:nvPr/>
        </p:nvSpPr>
        <p:spPr>
          <a:xfrm flipV="1">
            <a:off x="19009172" y="9233125"/>
            <a:ext cx="2776310" cy="639272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32" name="Line"/>
          <p:cNvSpPr/>
          <p:nvPr/>
        </p:nvSpPr>
        <p:spPr>
          <a:xfrm>
            <a:off x="16318055" y="9233125"/>
            <a:ext cx="2693125" cy="639049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33" name="Line"/>
          <p:cNvSpPr/>
          <p:nvPr/>
        </p:nvSpPr>
        <p:spPr>
          <a:xfrm>
            <a:off x="20330786" y="11125170"/>
            <a:ext cx="4630157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Look at That COD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Look at That CODE</a:t>
            </a:r>
          </a:p>
        </p:txBody>
      </p:sp>
      <p:pic>
        <p:nvPicPr>
          <p:cNvPr id="236" name="Screenshot 2024-07-26 at 9.10.35 AM.png" descr="Screenshot 2024-07-26 at 9.10.3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3750" y="2144405"/>
            <a:ext cx="19487544" cy="94271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Lets Get Into It - Finally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Lets Get Into It - Finally</a:t>
            </a:r>
          </a:p>
        </p:txBody>
      </p:sp>
      <p:sp>
        <p:nvSpPr>
          <p:cNvPr id="239" name="Drop-Pi work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Drop-Pi workflow</a:t>
            </a:r>
          </a:p>
        </p:txBody>
      </p:sp>
      <p:sp>
        <p:nvSpPr>
          <p:cNvPr id="240" name="Rectangle"/>
          <p:cNvSpPr/>
          <p:nvPr/>
        </p:nvSpPr>
        <p:spPr>
          <a:xfrm>
            <a:off x="799181" y="4076700"/>
            <a:ext cx="20550483" cy="7000050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41" name="GoGoNacBypass()"/>
          <p:cNvSpPr txBox="1"/>
          <p:nvPr/>
        </p:nvSpPr>
        <p:spPr>
          <a:xfrm>
            <a:off x="761758" y="3403599"/>
            <a:ext cx="23952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GoGoNacBypass()</a:t>
            </a:r>
          </a:p>
        </p:txBody>
      </p:sp>
      <p:sp>
        <p:nvSpPr>
          <p:cNvPr id="242" name="Rectangle"/>
          <p:cNvSpPr/>
          <p:nvPr/>
        </p:nvSpPr>
        <p:spPr>
          <a:xfrm>
            <a:off x="1041429" y="4691162"/>
            <a:ext cx="7775770" cy="4806068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43" name="Create bridge between USB and on-board NIC"/>
          <p:cNvSpPr/>
          <p:nvPr/>
        </p:nvSpPr>
        <p:spPr>
          <a:xfrm>
            <a:off x="1253967" y="4994528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Create bridge between USB and on-board NIC</a:t>
            </a:r>
          </a:p>
        </p:txBody>
      </p:sp>
      <p:sp>
        <p:nvSpPr>
          <p:cNvPr id="244" name="InitialSetupEBtable()"/>
          <p:cNvSpPr txBox="1"/>
          <p:nvPr/>
        </p:nvSpPr>
        <p:spPr>
          <a:xfrm>
            <a:off x="998800" y="4199063"/>
            <a:ext cx="3868684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InitialSetupEBtable()</a:t>
            </a:r>
          </a:p>
        </p:txBody>
      </p:sp>
      <p:sp>
        <p:nvSpPr>
          <p:cNvPr id="245" name="Line"/>
          <p:cNvSpPr/>
          <p:nvPr/>
        </p:nvSpPr>
        <p:spPr>
          <a:xfrm>
            <a:off x="-3623269" y="4414963"/>
            <a:ext cx="4630157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46" name="Use ebtables to rewrite with client MAC"/>
          <p:cNvSpPr/>
          <p:nvPr/>
        </p:nvSpPr>
        <p:spPr>
          <a:xfrm>
            <a:off x="3806087" y="4994528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Use ebtables to rewrite with client MAC</a:t>
            </a:r>
          </a:p>
        </p:txBody>
      </p:sp>
      <p:sp>
        <p:nvSpPr>
          <p:cNvPr id="247" name="&gt; ebtables (Ethernet Bridge tables) is the Ethernet bridge frame table administration command. It is the OSI layer 2 (Data Link Layer, Ethernet) equivalent to iptables."/>
          <p:cNvSpPr txBox="1"/>
          <p:nvPr/>
        </p:nvSpPr>
        <p:spPr>
          <a:xfrm>
            <a:off x="756379" y="11697468"/>
            <a:ext cx="2260427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&gt; ebtables (Ethernet Bridge tables) is the Ethernet bridge frame table administration command. It is the OSI layer 2 (Data Link Layer, Ethernet) equivalent to iptables.</a:t>
            </a:r>
          </a:p>
        </p:txBody>
      </p:sp>
      <p:sp>
        <p:nvSpPr>
          <p:cNvPr id="248" name="Enable EAP forwarding"/>
          <p:cNvSpPr/>
          <p:nvPr/>
        </p:nvSpPr>
        <p:spPr>
          <a:xfrm>
            <a:off x="6358207" y="4994528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Enable EAP forwarding</a:t>
            </a:r>
          </a:p>
        </p:txBody>
      </p:sp>
      <p:sp>
        <p:nvSpPr>
          <p:cNvPr id="249" name="Randomize MAC addresses on all interfaces"/>
          <p:cNvSpPr/>
          <p:nvPr/>
        </p:nvSpPr>
        <p:spPr>
          <a:xfrm>
            <a:off x="1253967" y="6941724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Randomize MAC addresses on all interfaces</a:t>
            </a:r>
          </a:p>
        </p:txBody>
      </p:sp>
      <p:sp>
        <p:nvSpPr>
          <p:cNvPr id="250" name="Bring up the bridge"/>
          <p:cNvSpPr/>
          <p:nvPr/>
        </p:nvSpPr>
        <p:spPr>
          <a:xfrm>
            <a:off x="3806087" y="6941724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Bring up the bridge</a:t>
            </a:r>
          </a:p>
        </p:txBody>
      </p:sp>
      <p:sp>
        <p:nvSpPr>
          <p:cNvPr id="251" name="Line"/>
          <p:cNvSpPr/>
          <p:nvPr/>
        </p:nvSpPr>
        <p:spPr>
          <a:xfrm>
            <a:off x="3557487" y="5629528"/>
            <a:ext cx="19153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2" name="Line"/>
          <p:cNvSpPr/>
          <p:nvPr/>
        </p:nvSpPr>
        <p:spPr>
          <a:xfrm>
            <a:off x="6109607" y="5629528"/>
            <a:ext cx="19153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3" name="Line"/>
          <p:cNvSpPr/>
          <p:nvPr/>
        </p:nvSpPr>
        <p:spPr>
          <a:xfrm>
            <a:off x="3557487" y="7576724"/>
            <a:ext cx="19153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4" name="Line"/>
          <p:cNvSpPr/>
          <p:nvPr/>
        </p:nvSpPr>
        <p:spPr>
          <a:xfrm flipV="1">
            <a:off x="7481433" y="6400895"/>
            <a:ext cx="1" cy="305379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5" name="Line"/>
          <p:cNvSpPr/>
          <p:nvPr/>
        </p:nvSpPr>
        <p:spPr>
          <a:xfrm>
            <a:off x="2369238" y="6692928"/>
            <a:ext cx="5120151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6" name="Line"/>
          <p:cNvSpPr/>
          <p:nvPr/>
        </p:nvSpPr>
        <p:spPr>
          <a:xfrm>
            <a:off x="2377193" y="6678992"/>
            <a:ext cx="1" cy="229809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7" name="Rectangle"/>
          <p:cNvSpPr/>
          <p:nvPr/>
        </p:nvSpPr>
        <p:spPr>
          <a:xfrm>
            <a:off x="9996137" y="4691162"/>
            <a:ext cx="11026457" cy="4806068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58" name="DHCPSecretSquirrel()"/>
          <p:cNvSpPr txBox="1"/>
          <p:nvPr/>
        </p:nvSpPr>
        <p:spPr>
          <a:xfrm>
            <a:off x="10003857" y="4246832"/>
            <a:ext cx="3868684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DHCPSecretSquirrel() </a:t>
            </a:r>
          </a:p>
        </p:txBody>
      </p:sp>
      <p:sp>
        <p:nvSpPr>
          <p:cNvPr id="259" name="Reset connection on client machine"/>
          <p:cNvSpPr/>
          <p:nvPr/>
        </p:nvSpPr>
        <p:spPr>
          <a:xfrm>
            <a:off x="10271852" y="4994528"/>
            <a:ext cx="2246454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Reset connection on client machine</a:t>
            </a:r>
          </a:p>
        </p:txBody>
      </p:sp>
      <p:sp>
        <p:nvSpPr>
          <p:cNvPr id="260" name="Line"/>
          <p:cNvSpPr/>
          <p:nvPr/>
        </p:nvSpPr>
        <p:spPr>
          <a:xfrm>
            <a:off x="6083647" y="7576724"/>
            <a:ext cx="3321937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1" name="Line"/>
          <p:cNvSpPr/>
          <p:nvPr/>
        </p:nvSpPr>
        <p:spPr>
          <a:xfrm flipV="1">
            <a:off x="9405847" y="4450888"/>
            <a:ext cx="1" cy="3138363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2" name="Line"/>
          <p:cNvSpPr/>
          <p:nvPr/>
        </p:nvSpPr>
        <p:spPr>
          <a:xfrm>
            <a:off x="9393205" y="4454653"/>
            <a:ext cx="602689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3" name="Bring up switch side interface"/>
          <p:cNvSpPr/>
          <p:nvPr/>
        </p:nvSpPr>
        <p:spPr>
          <a:xfrm>
            <a:off x="12791564" y="4994528"/>
            <a:ext cx="2246453" cy="12700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Bring up switch side interface</a:t>
            </a:r>
          </a:p>
        </p:txBody>
      </p:sp>
      <p:sp>
        <p:nvSpPr>
          <p:cNvPr id="264" name="Listen to network traffic for DHCP packet"/>
          <p:cNvSpPr/>
          <p:nvPr/>
        </p:nvSpPr>
        <p:spPr>
          <a:xfrm>
            <a:off x="15311276" y="4994528"/>
            <a:ext cx="2246453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Listen to network traffic for DHCP packet</a:t>
            </a:r>
          </a:p>
        </p:txBody>
      </p:sp>
      <p:sp>
        <p:nvSpPr>
          <p:cNvPr id="265" name="Extract gateway IP, client IP, and DNS server from DHCP packet"/>
          <p:cNvSpPr/>
          <p:nvPr/>
        </p:nvSpPr>
        <p:spPr>
          <a:xfrm>
            <a:off x="10271852" y="6941724"/>
            <a:ext cx="3094467" cy="178985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Extract gateway IP, client IP, and DNS server from DHCP packet</a:t>
            </a:r>
          </a:p>
        </p:txBody>
      </p:sp>
      <p:sp>
        <p:nvSpPr>
          <p:cNvPr id="266" name="If we cannot get gateway MAC from packet capture, fall back on using arping"/>
          <p:cNvSpPr/>
          <p:nvPr/>
        </p:nvSpPr>
        <p:spPr>
          <a:xfrm>
            <a:off x="18123061" y="6700460"/>
            <a:ext cx="2246453" cy="227238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If we cannot get gateway MAC from packet capture, fall back on using arping </a:t>
            </a:r>
          </a:p>
        </p:txBody>
      </p:sp>
      <p:sp>
        <p:nvSpPr>
          <p:cNvPr id="267" name="Line"/>
          <p:cNvSpPr/>
          <p:nvPr/>
        </p:nvSpPr>
        <p:spPr>
          <a:xfrm>
            <a:off x="12559168" y="5629528"/>
            <a:ext cx="19153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8" name="Line"/>
          <p:cNvSpPr/>
          <p:nvPr/>
        </p:nvSpPr>
        <p:spPr>
          <a:xfrm>
            <a:off x="15078879" y="5629528"/>
            <a:ext cx="19153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9" name="Get gateway MAC from packet capture."/>
          <p:cNvSpPr/>
          <p:nvPr/>
        </p:nvSpPr>
        <p:spPr>
          <a:xfrm>
            <a:off x="14621464" y="7201652"/>
            <a:ext cx="2246453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Get gateway MAC from packet capture.</a:t>
            </a:r>
          </a:p>
        </p:txBody>
      </p:sp>
      <p:sp>
        <p:nvSpPr>
          <p:cNvPr id="270" name="Line"/>
          <p:cNvSpPr/>
          <p:nvPr/>
        </p:nvSpPr>
        <p:spPr>
          <a:xfrm>
            <a:off x="13538914" y="7836652"/>
            <a:ext cx="90995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71" name="Line"/>
          <p:cNvSpPr/>
          <p:nvPr/>
        </p:nvSpPr>
        <p:spPr>
          <a:xfrm>
            <a:off x="17040511" y="7836652"/>
            <a:ext cx="909955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72" name="Line"/>
          <p:cNvSpPr/>
          <p:nvPr/>
        </p:nvSpPr>
        <p:spPr>
          <a:xfrm flipV="1">
            <a:off x="16340572" y="6400815"/>
            <a:ext cx="1" cy="305380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73" name="Line"/>
          <p:cNvSpPr/>
          <p:nvPr/>
        </p:nvSpPr>
        <p:spPr>
          <a:xfrm>
            <a:off x="11806028" y="6692848"/>
            <a:ext cx="4542500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74" name="Line"/>
          <p:cNvSpPr/>
          <p:nvPr/>
        </p:nvSpPr>
        <p:spPr>
          <a:xfrm>
            <a:off x="11819085" y="6700460"/>
            <a:ext cx="1" cy="229809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75" name="Line"/>
          <p:cNvSpPr/>
          <p:nvPr/>
        </p:nvSpPr>
        <p:spPr>
          <a:xfrm>
            <a:off x="20542110" y="7836652"/>
            <a:ext cx="8807606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Look at That COD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Look at That CODE</a:t>
            </a:r>
          </a:p>
        </p:txBody>
      </p:sp>
      <p:pic>
        <p:nvPicPr>
          <p:cNvPr id="278" name="Screenshot 2024-07-26 at 10.25.09 AM.png" descr="Screenshot 2024-07-26 at 10.25.0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4651" y="2657357"/>
            <a:ext cx="22934698" cy="8401286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DHCPSecretSquirrel()"/>
          <p:cNvSpPr txBox="1"/>
          <p:nvPr/>
        </p:nvSpPr>
        <p:spPr>
          <a:xfrm>
            <a:off x="741478" y="1817629"/>
            <a:ext cx="381264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DHCPSecretSquirrel()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Look at That CODE, Gross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Look at That CODE, Gross</a:t>
            </a:r>
          </a:p>
        </p:txBody>
      </p:sp>
      <p:sp>
        <p:nvSpPr>
          <p:cNvPr id="282" name="DHCPSecretSquirrel() cont."/>
          <p:cNvSpPr txBox="1"/>
          <p:nvPr/>
        </p:nvSpPr>
        <p:spPr>
          <a:xfrm>
            <a:off x="741478" y="1817629"/>
            <a:ext cx="381264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DHCPSecretSquirrel() cont.</a:t>
            </a:r>
          </a:p>
        </p:txBody>
      </p:sp>
      <p:pic>
        <p:nvPicPr>
          <p:cNvPr id="283" name="Screenshot 2024-07-26 at 10.25.48 AM.png" descr="Screenshot 2024-07-26 at 10.25.4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8754" y="2654300"/>
            <a:ext cx="20247203" cy="10757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Lets Get Into It - Finally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Lets Get Into It - Finally</a:t>
            </a:r>
          </a:p>
        </p:txBody>
      </p:sp>
      <p:sp>
        <p:nvSpPr>
          <p:cNvPr id="286" name="Drop-Pi work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Drop-Pi workflow</a:t>
            </a:r>
          </a:p>
        </p:txBody>
      </p:sp>
      <p:sp>
        <p:nvSpPr>
          <p:cNvPr id="287" name="Rectangle"/>
          <p:cNvSpPr/>
          <p:nvPr/>
        </p:nvSpPr>
        <p:spPr>
          <a:xfrm>
            <a:off x="799181" y="4076700"/>
            <a:ext cx="8801391" cy="3883049"/>
          </a:xfrm>
          <a:prstGeom prst="rect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88" name="GoGoNacBypass()"/>
          <p:cNvSpPr txBox="1"/>
          <p:nvPr/>
        </p:nvSpPr>
        <p:spPr>
          <a:xfrm>
            <a:off x="761758" y="3403599"/>
            <a:ext cx="23952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GoGoNacBypass()</a:t>
            </a:r>
          </a:p>
        </p:txBody>
      </p:sp>
      <p:sp>
        <p:nvSpPr>
          <p:cNvPr id="289" name="Line"/>
          <p:cNvSpPr/>
          <p:nvPr/>
        </p:nvSpPr>
        <p:spPr>
          <a:xfrm>
            <a:off x="-3625857" y="6018224"/>
            <a:ext cx="4630156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90" name="Create default route with bridge interface and gateway MAC"/>
          <p:cNvSpPr/>
          <p:nvPr/>
        </p:nvSpPr>
        <p:spPr>
          <a:xfrm>
            <a:off x="1163498" y="4882031"/>
            <a:ext cx="2246454" cy="227238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Create default route with bridge interface and gateway MAC</a:t>
            </a:r>
          </a:p>
        </p:txBody>
      </p:sp>
      <p:sp>
        <p:nvSpPr>
          <p:cNvPr id="291" name="Setup iptables to rewrite any traffic leaving the RaspPI with the client IP and NAT with designated port range"/>
          <p:cNvSpPr/>
          <p:nvPr/>
        </p:nvSpPr>
        <p:spPr>
          <a:xfrm>
            <a:off x="4271382" y="4367595"/>
            <a:ext cx="4822398" cy="330125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Setup iptables to rewrite any traffic leaving the RaspPI with the client IP and NAT with designated port range</a:t>
            </a:r>
          </a:p>
        </p:txBody>
      </p:sp>
      <p:sp>
        <p:nvSpPr>
          <p:cNvPr id="292" name="Line"/>
          <p:cNvSpPr/>
          <p:nvPr/>
        </p:nvSpPr>
        <p:spPr>
          <a:xfrm>
            <a:off x="3569150" y="6018224"/>
            <a:ext cx="543033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93" name="Line"/>
          <p:cNvSpPr/>
          <p:nvPr/>
        </p:nvSpPr>
        <p:spPr>
          <a:xfrm>
            <a:off x="9252979" y="6018224"/>
            <a:ext cx="989309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94" name="Initiate remote connection: rev shell, rev ssh over https tunnel, carrier pigeon, smoke signals"/>
          <p:cNvSpPr/>
          <p:nvPr/>
        </p:nvSpPr>
        <p:spPr>
          <a:xfrm>
            <a:off x="10401487" y="4882031"/>
            <a:ext cx="2246454" cy="227238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Initiate remote connection: rev shell, rev ssh over https tunnel, carrier pigeon, smoke signals</a:t>
            </a:r>
          </a:p>
        </p:txBody>
      </p:sp>
      <p:sp>
        <p:nvSpPr>
          <p:cNvPr id="295" name="Run any auxiliary commands - WAN setup, mobile connection"/>
          <p:cNvSpPr/>
          <p:nvPr/>
        </p:nvSpPr>
        <p:spPr>
          <a:xfrm>
            <a:off x="13955647" y="4882031"/>
            <a:ext cx="2246453" cy="227238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Run any auxiliary commands - WAN setup, mobile connection</a:t>
            </a:r>
          </a:p>
        </p:txBody>
      </p:sp>
      <p:sp>
        <p:nvSpPr>
          <p:cNvPr id="296" name="Line"/>
          <p:cNvSpPr/>
          <p:nvPr/>
        </p:nvSpPr>
        <p:spPr>
          <a:xfrm>
            <a:off x="12807139" y="6018224"/>
            <a:ext cx="989309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97" name="Cash"/>
          <p:cNvSpPr/>
          <p:nvPr/>
        </p:nvSpPr>
        <p:spPr>
          <a:xfrm>
            <a:off x="17509807" y="5703837"/>
            <a:ext cx="1533005" cy="62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07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3019" y="1846"/>
                </a:moveTo>
                <a:lnTo>
                  <a:pt x="9380" y="1846"/>
                </a:lnTo>
                <a:cubicBezTo>
                  <a:pt x="8379" y="3482"/>
                  <a:pt x="7686" y="6872"/>
                  <a:pt x="7686" y="10802"/>
                </a:cubicBezTo>
                <a:cubicBezTo>
                  <a:pt x="7686" y="14732"/>
                  <a:pt x="8379" y="18118"/>
                  <a:pt x="9380" y="19754"/>
                </a:cubicBezTo>
                <a:lnTo>
                  <a:pt x="3019" y="19754"/>
                </a:lnTo>
                <a:cubicBezTo>
                  <a:pt x="2835" y="16931"/>
                  <a:pt x="1920" y="14704"/>
                  <a:pt x="762" y="14256"/>
                </a:cubicBezTo>
                <a:lnTo>
                  <a:pt x="762" y="7344"/>
                </a:lnTo>
                <a:cubicBezTo>
                  <a:pt x="1920" y="6896"/>
                  <a:pt x="2835" y="4669"/>
                  <a:pt x="3019" y="1846"/>
                </a:cubicBezTo>
                <a:close/>
                <a:moveTo>
                  <a:pt x="12080" y="1846"/>
                </a:moveTo>
                <a:lnTo>
                  <a:pt x="18581" y="1846"/>
                </a:lnTo>
                <a:cubicBezTo>
                  <a:pt x="18765" y="4669"/>
                  <a:pt x="19678" y="6896"/>
                  <a:pt x="20836" y="7344"/>
                </a:cubicBezTo>
                <a:lnTo>
                  <a:pt x="20836" y="14256"/>
                </a:lnTo>
                <a:cubicBezTo>
                  <a:pt x="19678" y="14704"/>
                  <a:pt x="18765" y="16931"/>
                  <a:pt x="18581" y="19754"/>
                </a:cubicBezTo>
                <a:lnTo>
                  <a:pt x="12080" y="19754"/>
                </a:lnTo>
                <a:cubicBezTo>
                  <a:pt x="13080" y="18118"/>
                  <a:pt x="13772" y="14732"/>
                  <a:pt x="13772" y="10802"/>
                </a:cubicBezTo>
                <a:cubicBezTo>
                  <a:pt x="13772" y="6872"/>
                  <a:pt x="13080" y="3482"/>
                  <a:pt x="12080" y="1846"/>
                </a:cubicBezTo>
                <a:close/>
                <a:moveTo>
                  <a:pt x="4544" y="7884"/>
                </a:moveTo>
                <a:cubicBezTo>
                  <a:pt x="4232" y="7884"/>
                  <a:pt x="3921" y="8174"/>
                  <a:pt x="3683" y="8754"/>
                </a:cubicBezTo>
                <a:cubicBezTo>
                  <a:pt x="3208" y="9913"/>
                  <a:pt x="3208" y="11795"/>
                  <a:pt x="3683" y="12953"/>
                </a:cubicBezTo>
                <a:cubicBezTo>
                  <a:pt x="4159" y="14112"/>
                  <a:pt x="4929" y="14112"/>
                  <a:pt x="5404" y="12953"/>
                </a:cubicBezTo>
                <a:cubicBezTo>
                  <a:pt x="5880" y="11795"/>
                  <a:pt x="5880" y="9913"/>
                  <a:pt x="5404" y="8754"/>
                </a:cubicBezTo>
                <a:cubicBezTo>
                  <a:pt x="5167" y="8174"/>
                  <a:pt x="4855" y="7884"/>
                  <a:pt x="4544" y="7884"/>
                </a:cubicBezTo>
                <a:close/>
                <a:moveTo>
                  <a:pt x="16914" y="7884"/>
                </a:moveTo>
                <a:cubicBezTo>
                  <a:pt x="16603" y="7884"/>
                  <a:pt x="16291" y="8174"/>
                  <a:pt x="16054" y="8754"/>
                </a:cubicBezTo>
                <a:cubicBezTo>
                  <a:pt x="15578" y="9913"/>
                  <a:pt x="15578" y="11795"/>
                  <a:pt x="16054" y="12953"/>
                </a:cubicBezTo>
                <a:cubicBezTo>
                  <a:pt x="16529" y="14112"/>
                  <a:pt x="17301" y="14112"/>
                  <a:pt x="17776" y="12953"/>
                </a:cubicBezTo>
                <a:cubicBezTo>
                  <a:pt x="18252" y="11795"/>
                  <a:pt x="18252" y="9913"/>
                  <a:pt x="17776" y="8754"/>
                </a:cubicBezTo>
                <a:cubicBezTo>
                  <a:pt x="17539" y="8174"/>
                  <a:pt x="17226" y="7884"/>
                  <a:pt x="16914" y="7884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98" name="Line"/>
          <p:cNvSpPr/>
          <p:nvPr/>
        </p:nvSpPr>
        <p:spPr>
          <a:xfrm>
            <a:off x="16361298" y="6018224"/>
            <a:ext cx="989310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838787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Look at That COD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Look at That CODE</a:t>
            </a:r>
          </a:p>
        </p:txBody>
      </p:sp>
      <p:pic>
        <p:nvPicPr>
          <p:cNvPr id="301" name="Screenshot 2024-07-26 at 10.27.37 AM.png" descr="Screenshot 2024-07-26 at 10.27.3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5707" y="1581150"/>
            <a:ext cx="14435942" cy="119365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Look at That COD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Look at That CODE</a:t>
            </a:r>
          </a:p>
        </p:txBody>
      </p:sp>
      <p:pic>
        <p:nvPicPr>
          <p:cNvPr id="304" name="Screenshot 2024-07-26 at 10.27.59 AM.png" descr="Screenshot 2024-07-26 at 10.27.5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7930" y="1523633"/>
            <a:ext cx="22848140" cy="87865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Demo Lab - Network Layout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Lab - Network Layout</a:t>
            </a:r>
          </a:p>
        </p:txBody>
      </p:sp>
      <p:pic>
        <p:nvPicPr>
          <p:cNvPr id="307" name="Untitled Diagram.drawio (2).png" descr="Untitled Diagram.drawio (2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19526" y="1523633"/>
            <a:ext cx="15144948" cy="11947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Demo TIM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TIME</a:t>
            </a:r>
          </a:p>
        </p:txBody>
      </p:sp>
      <p:sp>
        <p:nvSpPr>
          <p:cNvPr id="310" name="Time for a De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Time for a Demo</a:t>
            </a:r>
          </a:p>
        </p:txBody>
      </p:sp>
      <p:sp>
        <p:nvSpPr>
          <p:cNvPr id="311" name="Turn your attention to the dem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Turn your attention to the demo</a:t>
            </a:r>
          </a:p>
          <a:p>
            <a:pPr/>
            <a:r>
              <a:t>Why are you still reading this</a:t>
            </a:r>
          </a:p>
        </p:txBody>
      </p:sp>
      <p:sp>
        <p:nvSpPr>
          <p:cNvPr id="312" name="Seriously, watch the demo"/>
          <p:cNvSpPr txBox="1"/>
          <p:nvPr/>
        </p:nvSpPr>
        <p:spPr>
          <a:xfrm>
            <a:off x="1040319" y="12751985"/>
            <a:ext cx="800486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pPr/>
            <a:r>
              <a:t>Seriously, watch the 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his is the end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end</a:t>
            </a:r>
          </a:p>
        </p:txBody>
      </p:sp>
      <p:sp>
        <p:nvSpPr>
          <p:cNvPr id="315" name="Questions?"/>
          <p:cNvSpPr txBox="1"/>
          <p:nvPr/>
        </p:nvSpPr>
        <p:spPr>
          <a:xfrm>
            <a:off x="10030015" y="6257288"/>
            <a:ext cx="4323970" cy="12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80000"/>
              </a:lnSpc>
              <a:spcBef>
                <a:spcPts val="3900"/>
              </a:spcBef>
              <a:defRPr cap="all" sz="8700">
                <a:solidFill>
                  <a:schemeClr val="accent1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Questions?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his is actually The End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actually The End</a:t>
            </a:r>
          </a:p>
        </p:txBody>
      </p:sp>
      <p:sp>
        <p:nvSpPr>
          <p:cNvPr id="318" name="Repo Th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pPr/>
            <a:r>
              <a:t>Repo Things</a:t>
            </a:r>
          </a:p>
        </p:txBody>
      </p:sp>
      <p:sp>
        <p:nvSpPr>
          <p:cNvPr id="319" name="Code Repo…"/>
          <p:cNvSpPr txBox="1"/>
          <p:nvPr>
            <p:ph type="body" idx="1"/>
          </p:nvPr>
        </p:nvSpPr>
        <p:spPr>
          <a:xfrm>
            <a:off x="749300" y="3860800"/>
            <a:ext cx="22860000" cy="8585200"/>
          </a:xfrm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Code Repo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rPr u="sng">
                <a:solidFill>
                  <a:schemeClr val="accent1"/>
                </a:solidFill>
                <a:hlinkClick r:id="rId2" invalidUrl="" action="" tgtFrame="" tooltip="" history="1" highlightClick="0" endSnd="0"/>
              </a:rPr>
              <a:t>https://github.com/ditmer/Drop-Pi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rPr u="sng">
                <a:solidFill>
                  <a:schemeClr val="accent1"/>
                </a:solidFill>
                <a:hlinkClick r:id="rId3" invalidUrl="" action="" tgtFrame="" tooltip="" history="1" highlightClick="0" endSnd="0"/>
              </a:rPr>
              <a:t>https://github.com/ditmer/cryptmypi-drop-pi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Personal Github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rPr u="sng">
                <a:solidFill>
                  <a:schemeClr val="accent1"/>
                </a:solidFill>
                <a:hlinkClick r:id="rId4" invalidUrl="" action="" tgtFrame="" tooltip="" history="1" highlightClick="0" endSnd="0"/>
              </a:rPr>
              <a:t>https://github.com/ab0l3th</a:t>
            </a:r>
          </a:p>
          <a:p>
            <a:pPr lvl="1" marL="1219200" indent="-609600" defTabSz="792479">
              <a:spcBef>
                <a:spcPts val="3700"/>
              </a:spcBef>
              <a:defRPr sz="4608"/>
            </a:pPr>
            <a:r>
              <a:rPr u="sng">
                <a:solidFill>
                  <a:schemeClr val="accent1"/>
                </a:solidFill>
                <a:hlinkClick r:id="rId5" invalidUrl="" action="" tgtFrame="" tooltip="" history="1" highlightClick="0" endSnd="0"/>
              </a:rPr>
              <a:t>https://github.com/ditmer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he End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9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9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